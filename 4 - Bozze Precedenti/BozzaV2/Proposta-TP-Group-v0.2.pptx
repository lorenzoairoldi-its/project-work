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065A82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840480"/>
            <a:ext cx="2926080" cy="292608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62179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5STACK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22860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Proposta di Integrazione IT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640080" y="306324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B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 Group srl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40080" y="38404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Cloud + HPC bare-metal + Sicurezza Zero Trust a 9 strati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5943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Bozza v0.2  •  28 Giugno 2026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6263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Lorenzo Airoldi · Jacopo Merlo · Emanuele Sole · Gabriele Mattiolo · Yassine Suriano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Premessa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contesto e l'obiettivo della proposta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1645920"/>
          </a:xfrm>
          <a:prstGeom prst="roundRect">
            <a:avLst>
              <a:gd name="adj" fmla="val 4444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9164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5Stack 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stata incaricata di redigere un'offerta tecnico-economica per l'acquisizione e la convergenza delle infrastrutture IT di </a:t>
            </a:r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Consulting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Studio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nella nuova entità </a:t>
            </a:r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Group srl.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474720"/>
            <a:ext cx="33832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3703320"/>
            <a:ext cx="548640" cy="548640"/>
          </a:xfrm>
          <a:prstGeom prst="ellipse">
            <a:avLst/>
          </a:prstGeom>
          <a:solidFill>
            <a:srgbClr val="F4F8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84048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43891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Visione strategica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47548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Architettura target unificata e moderna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97680" y="3474720"/>
            <a:ext cx="33832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0" y="37033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384048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72000" y="43891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572000" y="47548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Sicurezza a 9 strati indipendenti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046720" y="3474720"/>
            <a:ext cx="33832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21040" y="3703320"/>
            <a:ext cx="548640" cy="548640"/>
          </a:xfrm>
          <a:prstGeom prst="ellipse">
            <a:avLst/>
          </a:prstGeom>
          <a:solidFill>
            <a:srgbClr val="F4F8F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384048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21040" y="43891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321040" y="47548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Piano di integrazione in 9 fasi operative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Group srl — Proposta 5Stack v0.2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Attuale (AS-IS)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 tra le due realtà prima della fusione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0876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Consulting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883664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dipendenti · On-premise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126480" y="1463040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355080" y="150876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Studio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55080" y="1883664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dipendenti · Cloud-native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2377440"/>
            <a:ext cx="46634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Sede: Torino (immobile proprio)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VMware · 2 host + NetApp SAN 24TB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HPC: 8 nodi fisici + InfiniBand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Zimbra, NextCloud, Teams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SugarCRM, Kimai, Gitea on-prem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Samba4 AD · FortiGate FG-60F (no HA)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Backup: QNAP 32TB on-prem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MFA, no endpoint protection, no audit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355080" y="2377440"/>
            <a:ext cx="46634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Sede: Torino (affitto in scadenza)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IT interno / virtualizzazione N/D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HPC: non disponibile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Workspace (Gmail, Drive, Meet)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SaaS, Bitbucket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Identity · Nessuna sicurezza perimetrale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Backup: non disponibile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MFA, no endpoint protection, no audit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Group srl — Proposta 5Stack v0.2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828800"/>
            <a:ext cx="4572000" cy="457200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Criticità Emerse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rischi individuati nell'infrastruttura attuale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349240" cy="841248"/>
          </a:xfrm>
          <a:prstGeom prst="roundRect">
            <a:avLst>
              <a:gd name="adj" fmla="val 7609"/>
            </a:avLst>
          </a:prstGeom>
          <a:solidFill>
            <a:srgbClr val="065A82">
              <a:alpha val="85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709928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8992" y="1472184"/>
            <a:ext cx="46360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Rack saturi — nessuno spazio per nuovo hardware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63640" y="1417320"/>
            <a:ext cx="5349240" cy="841248"/>
          </a:xfrm>
          <a:prstGeom prst="roundRect">
            <a:avLst>
              <a:gd name="adj" fmla="val 7609"/>
            </a:avLst>
          </a:prstGeom>
          <a:solidFill>
            <a:srgbClr val="065A82">
              <a:alpha val="85000"/>
            </a:srgbClr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1709928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793992" y="1472184"/>
            <a:ext cx="46360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Raffreddamento al limite — rischio surriscaldamento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48640" y="2423160"/>
            <a:ext cx="5349240" cy="841248"/>
          </a:xfrm>
          <a:prstGeom prst="roundRect">
            <a:avLst>
              <a:gd name="adj" fmla="val 7609"/>
            </a:avLst>
          </a:prstGeom>
          <a:solidFill>
            <a:srgbClr val="065A82">
              <a:alpha val="85000"/>
            </a:srgbClr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715768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78992" y="2478024"/>
            <a:ext cx="46360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 insufficiente — solo 10 minuti di autonomia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6263640" y="2423160"/>
            <a:ext cx="5349240" cy="841248"/>
          </a:xfrm>
          <a:prstGeom prst="roundRect">
            <a:avLst>
              <a:gd name="adj" fmla="val 7609"/>
            </a:avLst>
          </a:prstGeom>
          <a:solidFill>
            <a:srgbClr val="065A82">
              <a:alpha val="85000"/>
            </a:srgbClr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232" y="2715768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793992" y="2478024"/>
            <a:ext cx="46360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ridondanza firewall — FG-60F sottodimensionato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548640" y="3429000"/>
            <a:ext cx="5349240" cy="841248"/>
          </a:xfrm>
          <a:prstGeom prst="roundRect">
            <a:avLst>
              <a:gd name="adj" fmla="val 7609"/>
            </a:avLst>
          </a:prstGeom>
          <a:solidFill>
            <a:srgbClr val="065A82">
              <a:alpha val="85000"/>
            </a:srgbClr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3721608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78992" y="3483864"/>
            <a:ext cx="46360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solo on-premise — non conforme ISO 27001</a:t>
            </a:r>
            <a:endParaRPr lang="en-US" sz="1150" dirty="0"/>
          </a:p>
        </p:txBody>
      </p:sp>
      <p:sp>
        <p:nvSpPr>
          <p:cNvPr id="20" name="Shape 13"/>
          <p:cNvSpPr/>
          <p:nvPr/>
        </p:nvSpPr>
        <p:spPr>
          <a:xfrm>
            <a:off x="6263640" y="3429000"/>
            <a:ext cx="5349240" cy="841248"/>
          </a:xfrm>
          <a:prstGeom prst="roundRect">
            <a:avLst>
              <a:gd name="adj" fmla="val 7609"/>
            </a:avLst>
          </a:prstGeom>
          <a:solidFill>
            <a:srgbClr val="065A82">
              <a:alpha val="85000"/>
            </a:srgbClr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8232" y="3721608"/>
            <a:ext cx="256032" cy="25603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793992" y="3483864"/>
            <a:ext cx="46360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Studio senza backup né perimetro di sicurezza</a:t>
            </a:r>
            <a:endParaRPr lang="en-US" sz="1150" dirty="0"/>
          </a:p>
        </p:txBody>
      </p:sp>
      <p:sp>
        <p:nvSpPr>
          <p:cNvPr id="23" name="Shape 15"/>
          <p:cNvSpPr/>
          <p:nvPr/>
        </p:nvSpPr>
        <p:spPr>
          <a:xfrm>
            <a:off x="548640" y="4434840"/>
            <a:ext cx="5349240" cy="841248"/>
          </a:xfrm>
          <a:prstGeom prst="roundRect">
            <a:avLst>
              <a:gd name="adj" fmla="val 7609"/>
            </a:avLst>
          </a:prstGeom>
          <a:solidFill>
            <a:srgbClr val="065A82">
              <a:alpha val="85000"/>
            </a:srgbClr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" y="4727448"/>
            <a:ext cx="256032" cy="25603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078992" y="4489704"/>
            <a:ext cx="46360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Samba4 AD — nessun MFA, audit, Conditional Access</a:t>
            </a:r>
            <a:endParaRPr lang="en-US" sz="1150" dirty="0"/>
          </a:p>
        </p:txBody>
      </p:sp>
      <p:sp>
        <p:nvSpPr>
          <p:cNvPr id="26" name="Shape 17"/>
          <p:cNvSpPr/>
          <p:nvPr/>
        </p:nvSpPr>
        <p:spPr>
          <a:xfrm>
            <a:off x="6263640" y="4434840"/>
            <a:ext cx="5349240" cy="841248"/>
          </a:xfrm>
          <a:prstGeom prst="roundRect">
            <a:avLst>
              <a:gd name="adj" fmla="val 7609"/>
            </a:avLst>
          </a:prstGeom>
          <a:solidFill>
            <a:srgbClr val="065A82">
              <a:alpha val="85000"/>
            </a:srgbClr>
          </a:solidFill>
          <a:ln/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8232" y="4727448"/>
            <a:ext cx="256032" cy="256032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6793992" y="4489704"/>
            <a:ext cx="46360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protezione endpoint centralizzata</a:t>
            </a:r>
            <a:endParaRPr lang="en-US" sz="1150" dirty="0"/>
          </a:p>
        </p:txBody>
      </p:sp>
      <p:sp>
        <p:nvSpPr>
          <p:cNvPr id="29" name="Shape 19"/>
          <p:cNvSpPr/>
          <p:nvPr/>
        </p:nvSpPr>
        <p:spPr>
          <a:xfrm>
            <a:off x="548640" y="5440680"/>
            <a:ext cx="5349240" cy="841248"/>
          </a:xfrm>
          <a:prstGeom prst="roundRect">
            <a:avLst>
              <a:gd name="adj" fmla="val 7609"/>
            </a:avLst>
          </a:prstGeom>
          <a:solidFill>
            <a:srgbClr val="065A82">
              <a:alpha val="85000"/>
            </a:srgbClr>
          </a:solidFill>
          <a:ln/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3232" y="5733288"/>
            <a:ext cx="256032" cy="256032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1078992" y="5495544"/>
            <a:ext cx="46360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sistema DLP / CASB — shadow IT non rilevabile</a:t>
            </a:r>
            <a:endParaRPr lang="en-US" sz="1150" dirty="0"/>
          </a:p>
        </p:txBody>
      </p:sp>
      <p:sp>
        <p:nvSpPr>
          <p:cNvPr id="32" name="Shape 21"/>
          <p:cNvSpPr/>
          <p:nvPr/>
        </p:nvSpPr>
        <p:spPr>
          <a:xfrm>
            <a:off x="6263640" y="5440680"/>
            <a:ext cx="5349240" cy="841248"/>
          </a:xfrm>
          <a:prstGeom prst="roundRect">
            <a:avLst>
              <a:gd name="adj" fmla="val 7609"/>
            </a:avLst>
          </a:prstGeom>
          <a:solidFill>
            <a:srgbClr val="065A82">
              <a:alpha val="85000"/>
            </a:srgbClr>
          </a:solidFill>
          <a:ln/>
        </p:spPr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8232" y="5733288"/>
            <a:ext cx="256032" cy="256032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6793992" y="5495544"/>
            <a:ext cx="46360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audit logging strutturato</a:t>
            </a:r>
            <a:endParaRPr lang="en-US" sz="1150" dirty="0"/>
          </a:p>
        </p:txBody>
      </p:sp>
      <p:sp>
        <p:nvSpPr>
          <p:cNvPr id="35" name="Text 2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Group srl — Proposta 5Stack v0.2</a:t>
            </a:r>
            <a:endParaRPr lang="en-US" sz="900" dirty="0"/>
          </a:p>
        </p:txBody>
      </p:sp>
      <p:sp>
        <p:nvSpPr>
          <p:cNvPr id="36" name="Text 24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Nuova Struttura Proposta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principio guida della trasformazione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97280" y="1737360"/>
            <a:ext cx="9966960" cy="1554480"/>
          </a:xfrm>
          <a:prstGeom prst="roundRect">
            <a:avLst>
              <a:gd name="adj" fmla="val 7059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214884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2768" y="2350008"/>
            <a:ext cx="374904" cy="3749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77440" y="201168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Cloud first</a:t>
            </a:r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HPC su bare-metal cloud dedicato. </a:t>
            </a:r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Trust</a:t>
            </a:r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come modello di sicurezza fondante.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737360" y="352044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nuova infrastruttura unifica i 50 dipendenti in un'unica entità, operante dalla sede di Torino (immobile Thema). L'IT passa interamente in capo a TP Group, con il team 5Stack a supporto della transizione.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97280" y="47091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1097280" y="546811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Dipendenti unificati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0" y="47091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4600" dirty="0"/>
          </a:p>
        </p:txBody>
      </p:sp>
      <p:sp>
        <p:nvSpPr>
          <p:cNvPr id="12" name="Text 9"/>
          <p:cNvSpPr/>
          <p:nvPr/>
        </p:nvSpPr>
        <p:spPr>
          <a:xfrm>
            <a:off x="4572000" y="546811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Nodi HPC bare-metal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046720" y="47091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600" dirty="0"/>
          </a:p>
        </p:txBody>
      </p:sp>
      <p:sp>
        <p:nvSpPr>
          <p:cNvPr id="14" name="Text 11"/>
          <p:cNvSpPr/>
          <p:nvPr/>
        </p:nvSpPr>
        <p:spPr>
          <a:xfrm>
            <a:off x="8046720" y="546811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 di sicurezza Zero Trust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Group srl — Proposta 5Stack v0.2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Architettura Target — Core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Identity, produttività e applicazioni di business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931920"/>
                <a:gridCol w="49377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Layer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Soluzione Proposta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Dettaglio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Identity &amp; Access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Microsoft Entra ID Premium P2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Unifica Samba4 AD + Google Identity. MFA, Conditional Access, PIM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Email &amp; Calendar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Exchange Online (M365 E5)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Migrazione da Zimbra e Gmail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Produttività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Microsoft 365 E5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LibreOffice + Google Docs → M365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File &amp; Collaboration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OneDrive + SharePoint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Sostituisce NextCloud e Google Drive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CRM / Accounting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Odoo unico su Azure VM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SugarCRM + Profis → Odoo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App critica (Pondus)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VM IIS + Azure SQL Managed Instance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Da HW fisico a cloud, con TDE e geo-replication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HPC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16 nodi bare-metal cloud (OVH / Hetzner)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Da 8 nodi on-prem a 16 cloud, multi-site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Group srl — Proposta 5Stack v0.2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Architettura Target — Sicurezza &amp; Governance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layer dedicati a protezione, conformità e controllo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931920"/>
                <a:gridCol w="493776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Layer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Soluzione Proposta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Dettaglio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Endpoint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Microsoft Defender for Endpoint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EDR, antivirus next-gen, ASR, threat hunting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SaaS (M365)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Microsoft 365 Defender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Anti-phishing, Safe Links/Attachments, DLP, CASB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Rete (Azure)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Azure Firewall + NSG + DDoS Protection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DMZ, micro-segmentazione, protezione rete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Sede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FortiGate 100F (HA pair)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Upgrade da FG-60F, VPN site-to-site e HPC dedicata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Secrets &amp; Crittografia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Azure Key Vault + Disk Encryption + TLS 1.3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Segreti, certificati, dati at-rest e in-transit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Audit &amp; Compliance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Azure Monitor + Log Analytics + Purview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Log centralizzato, ISO 27001, eDiscovery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Governance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Azure Policy + RBAC + PIM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Conformità, privilegio minimo, accessi JIT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SIEM / SOC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Microsoft Sentinel (opzionale)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Correlazione log, alert, SOAR automation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Group srl — Proposta 5Stack v0.2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Modello Zero Trust — 9 Strati Indipendenti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Difesa multi-livello: niente perimetro unico, ogni strato è autonomo e ridondante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773936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70332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25880" y="162763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31520" y="224028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ID, MFA, Conditional Access, PIM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434840" y="146304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4617720" y="16459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736" y="1773936"/>
            <a:ext cx="246888" cy="2468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8952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212080" y="162763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617720" y="224028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 for Endpoint, EDR, ASR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321040" y="146304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17" name="Shape 13"/>
          <p:cNvSpPr/>
          <p:nvPr/>
        </p:nvSpPr>
        <p:spPr>
          <a:xfrm>
            <a:off x="8503920" y="16459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1773936"/>
            <a:ext cx="246888" cy="2468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47572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9098280" y="162763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(M365)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8503920" y="224028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Defender, DLP, CASB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548640" y="310896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23" name="Shape 18"/>
          <p:cNvSpPr/>
          <p:nvPr/>
        </p:nvSpPr>
        <p:spPr>
          <a:xfrm>
            <a:off x="731520" y="32918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3419856"/>
            <a:ext cx="246888" cy="24688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70332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1325880" y="327355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 (Azure)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731520" y="388620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Firewall, NSG, JIT, Key Vault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4434840" y="310896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29" name="Shape 23"/>
          <p:cNvSpPr/>
          <p:nvPr/>
        </p:nvSpPr>
        <p:spPr>
          <a:xfrm>
            <a:off x="4617720" y="32918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5736" y="3419856"/>
            <a:ext cx="246888" cy="24688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58952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5212080" y="327355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</a:t>
            </a:r>
            <a:endParaRPr lang="en-US" sz="1350" dirty="0"/>
          </a:p>
        </p:txBody>
      </p:sp>
      <p:sp>
        <p:nvSpPr>
          <p:cNvPr id="33" name="Text 26"/>
          <p:cNvSpPr/>
          <p:nvPr/>
        </p:nvSpPr>
        <p:spPr>
          <a:xfrm>
            <a:off x="4617720" y="388620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FortiGate 100F HA, VPN, VLAN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8321040" y="310896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35" name="Shape 28"/>
          <p:cNvSpPr/>
          <p:nvPr/>
        </p:nvSpPr>
        <p:spPr>
          <a:xfrm>
            <a:off x="8503920" y="32918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1936" y="3419856"/>
            <a:ext cx="246888" cy="246888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147572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8" name="Text 30"/>
          <p:cNvSpPr/>
          <p:nvPr/>
        </p:nvSpPr>
        <p:spPr>
          <a:xfrm>
            <a:off x="9098280" y="327355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DR</a:t>
            </a:r>
            <a:endParaRPr lang="en-US" sz="1350" dirty="0"/>
          </a:p>
        </p:txBody>
      </p:sp>
      <p:sp>
        <p:nvSpPr>
          <p:cNvPr id="39" name="Text 31"/>
          <p:cNvSpPr/>
          <p:nvPr/>
        </p:nvSpPr>
        <p:spPr>
          <a:xfrm>
            <a:off x="8503920" y="388620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Backup, Site Recovery</a:t>
            </a:r>
            <a:endParaRPr lang="en-US" sz="1050" dirty="0"/>
          </a:p>
        </p:txBody>
      </p:sp>
      <p:sp>
        <p:nvSpPr>
          <p:cNvPr id="40" name="Shape 32"/>
          <p:cNvSpPr/>
          <p:nvPr/>
        </p:nvSpPr>
        <p:spPr>
          <a:xfrm>
            <a:off x="548640" y="475488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41" name="Shape 33"/>
          <p:cNvSpPr/>
          <p:nvPr/>
        </p:nvSpPr>
        <p:spPr>
          <a:xfrm>
            <a:off x="731520" y="49377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536" y="5065776"/>
            <a:ext cx="246888" cy="246888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3703320" y="4846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4" name="Text 35"/>
          <p:cNvSpPr/>
          <p:nvPr/>
        </p:nvSpPr>
        <p:spPr>
          <a:xfrm>
            <a:off x="1325880" y="491947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Compliance</a:t>
            </a:r>
            <a:endParaRPr lang="en-US" sz="1350" dirty="0"/>
          </a:p>
        </p:txBody>
      </p:sp>
      <p:sp>
        <p:nvSpPr>
          <p:cNvPr id="45" name="Text 36"/>
          <p:cNvSpPr/>
          <p:nvPr/>
        </p:nvSpPr>
        <p:spPr>
          <a:xfrm>
            <a:off x="731520" y="553212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Analytics, Purview, ISO 27001</a:t>
            </a:r>
            <a:endParaRPr lang="en-US" sz="1050" dirty="0"/>
          </a:p>
        </p:txBody>
      </p:sp>
      <p:sp>
        <p:nvSpPr>
          <p:cNvPr id="46" name="Shape 37"/>
          <p:cNvSpPr/>
          <p:nvPr/>
        </p:nvSpPr>
        <p:spPr>
          <a:xfrm>
            <a:off x="4434840" y="475488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47" name="Shape 38"/>
          <p:cNvSpPr/>
          <p:nvPr/>
        </p:nvSpPr>
        <p:spPr>
          <a:xfrm>
            <a:off x="4617720" y="49377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45736" y="5065776"/>
            <a:ext cx="246888" cy="246888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7589520" y="4846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50" name="Text 40"/>
          <p:cNvSpPr/>
          <p:nvPr/>
        </p:nvSpPr>
        <p:spPr>
          <a:xfrm>
            <a:off x="5212080" y="491947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350" dirty="0"/>
          </a:p>
        </p:txBody>
      </p:sp>
      <p:sp>
        <p:nvSpPr>
          <p:cNvPr id="51" name="Text 41"/>
          <p:cNvSpPr/>
          <p:nvPr/>
        </p:nvSpPr>
        <p:spPr>
          <a:xfrm>
            <a:off x="4617720" y="553212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Policy, RBAC, Access Reviews</a:t>
            </a:r>
            <a:endParaRPr lang="en-US" sz="1050" dirty="0"/>
          </a:p>
        </p:txBody>
      </p:sp>
      <p:sp>
        <p:nvSpPr>
          <p:cNvPr id="52" name="Shape 42"/>
          <p:cNvSpPr/>
          <p:nvPr/>
        </p:nvSpPr>
        <p:spPr>
          <a:xfrm>
            <a:off x="8321040" y="475488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53" name="Shape 43"/>
          <p:cNvSpPr/>
          <p:nvPr/>
        </p:nvSpPr>
        <p:spPr>
          <a:xfrm>
            <a:off x="8503920" y="49377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31936" y="5065776"/>
            <a:ext cx="246888" cy="246888"/>
          </a:xfrm>
          <a:prstGeom prst="rect">
            <a:avLst/>
          </a:prstGeom>
        </p:spPr>
      </p:pic>
      <p:sp>
        <p:nvSpPr>
          <p:cNvPr id="55" name="Text 44"/>
          <p:cNvSpPr/>
          <p:nvPr/>
        </p:nvSpPr>
        <p:spPr>
          <a:xfrm>
            <a:off x="11475720" y="4846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56" name="Text 45"/>
          <p:cNvSpPr/>
          <p:nvPr/>
        </p:nvSpPr>
        <p:spPr>
          <a:xfrm>
            <a:off x="9098280" y="491947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350" dirty="0"/>
          </a:p>
        </p:txBody>
      </p:sp>
      <p:sp>
        <p:nvSpPr>
          <p:cNvPr id="57" name="Text 46"/>
          <p:cNvSpPr/>
          <p:nvPr/>
        </p:nvSpPr>
        <p:spPr>
          <a:xfrm>
            <a:off x="8503920" y="553212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Simulation, security awareness</a:t>
            </a:r>
            <a:endParaRPr lang="en-US" sz="1050" dirty="0"/>
          </a:p>
        </p:txBody>
      </p:sp>
      <p:sp>
        <p:nvSpPr>
          <p:cNvPr id="58" name="Text 4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Group srl — Proposta 5Stack v0.2</a:t>
            </a:r>
            <a:endParaRPr lang="en-US" sz="900" dirty="0"/>
          </a:p>
        </p:txBody>
      </p:sp>
      <p:sp>
        <p:nvSpPr>
          <p:cNvPr id="59" name="Text 48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Perché Zero Trust?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perimetro unico alla difesa multi-livello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120640" cy="502920"/>
          </a:xfrm>
          <a:prstGeom prst="roundRect">
            <a:avLst>
              <a:gd name="adj" fmla="val 12727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Modello tradizionale (AS-IS)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26480" y="1463040"/>
            <a:ext cx="5120640" cy="502920"/>
          </a:xfrm>
          <a:prstGeom prst="roundRect">
            <a:avLst>
              <a:gd name="adj" fmla="val 12727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0" y="146304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(target)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5120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Perimetro unico: FortiGate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26480" y="2103120"/>
            <a:ext cx="5120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21031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Perimetri multipli: Identity + Endpoint + SaaS + IaaS + Rete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5120640" cy="457200"/>
          </a:xfrm>
          <a:prstGeom prst="rect">
            <a:avLst/>
          </a:prstGeom>
          <a:solidFill>
            <a:srgbClr val="F4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6060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Fiducia implicita nella rete interna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2606040"/>
            <a:ext cx="5120640" cy="457200"/>
          </a:xfrm>
          <a:prstGeom prst="rect">
            <a:avLst/>
          </a:prstGeom>
          <a:solidFill>
            <a:srgbClr val="F4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26060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fiducia implicita — verifica ogni richiesta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5120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1089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MFA strutturato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26480" y="3108960"/>
            <a:ext cx="5120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31089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obbligatorio su tutti gli accessi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611880"/>
            <a:ext cx="5120640" cy="457200"/>
          </a:xfrm>
          <a:prstGeom prst="rect">
            <a:avLst/>
          </a:prstGeom>
          <a:solidFill>
            <a:srgbClr val="F4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6118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on-prem (unico punto di guasto)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26480" y="3611880"/>
            <a:ext cx="5120640" cy="457200"/>
          </a:xfrm>
          <a:prstGeom prst="rect">
            <a:avLst/>
          </a:prstGeom>
          <a:solidFill>
            <a:srgbClr val="F4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36118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off-site + DR multi-region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114800"/>
            <a:ext cx="5120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114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audit logging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26480" y="4114800"/>
            <a:ext cx="5120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4114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centralizzato con retention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617720"/>
            <a:ext cx="5120640" cy="457200"/>
          </a:xfrm>
          <a:prstGeom prst="rect">
            <a:avLst/>
          </a:prstGeom>
          <a:solidFill>
            <a:srgbClr val="F4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6177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protezione endpoint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26480" y="4617720"/>
            <a:ext cx="5120640" cy="457200"/>
          </a:xfrm>
          <a:prstGeom prst="rect">
            <a:avLst/>
          </a:prstGeom>
          <a:solidFill>
            <a:srgbClr val="F4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46177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 su tutti i device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5120640"/>
            <a:ext cx="5120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51206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visibilità su shadow IT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26480" y="5120640"/>
            <a:ext cx="5120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63640" y="51206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CASB per scoprire e controllare SaaS non autorizzati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5623560"/>
            <a:ext cx="5120640" cy="457200"/>
          </a:xfrm>
          <a:prstGeom prst="rect">
            <a:avLst/>
          </a:prstGeom>
          <a:solidFill>
            <a:srgbClr val="F4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56235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DLP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126480" y="5623560"/>
            <a:ext cx="5120640" cy="457200"/>
          </a:xfrm>
          <a:prstGeom prst="rect">
            <a:avLst/>
          </a:prstGeom>
          <a:solidFill>
            <a:srgbClr val="F4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63640" y="56235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 su email, file, Teams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Group srl — Proposta 5Stack v0.2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RPO / RTO Target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Obiettivi di continuità operativa e relativa strategia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188720"/>
                <a:gridCol w="1188720"/>
                <a:gridCol w="63093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Servizio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RPO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RTO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Strategia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Pondus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15 min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30 min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SQL MI geo-replication + Site Recovery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Odoo (CRM+Acc.+TS)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15 min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 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Backup frequente + Site Recovery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Posta elettronica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4 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2 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M365 SaaS (SLA Microsoft)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AD / DNS (Entra ID)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15 min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 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Entra ID (ridondanza Microsoft)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Gitea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24 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4 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Backup giornaliero + restore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MediaWiki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24 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8 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Backup giornaliero + restore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HPC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24 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4 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Config backup + failover sito secondario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OneDrive / SharePoint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&lt; 1 min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 min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SaaS (SLA Microsoft)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Group srl — Proposta 5Stack v0.2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Organigramma Target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Bozza della struttura organizzativa di TP Group srl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251960" y="1417320"/>
            <a:ext cx="3657600" cy="713232"/>
          </a:xfrm>
          <a:prstGeom prst="roundRect">
            <a:avLst>
              <a:gd name="adj" fmla="val 10256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4251960" y="1463040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Group srl</a:t>
            </a:r>
            <a:endParaRPr lang="en-US" sz="15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dipendenti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80760" y="2130552"/>
            <a:ext cx="0" cy="320040"/>
          </a:xfrm>
          <a:prstGeom prst="line">
            <a:avLst/>
          </a:prstGeom>
          <a:noFill/>
          <a:ln w="19050">
            <a:solidFill>
              <a:srgbClr val="C0C7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0" y="2450592"/>
            <a:ext cx="8869680" cy="0"/>
          </a:xfrm>
          <a:prstGeom prst="line">
            <a:avLst/>
          </a:prstGeom>
          <a:noFill/>
          <a:ln w="19050">
            <a:solidFill>
              <a:srgbClr val="C0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03120" y="2450592"/>
            <a:ext cx="0" cy="274320"/>
          </a:xfrm>
          <a:prstGeom prst="line">
            <a:avLst/>
          </a:prstGeom>
          <a:noFill/>
          <a:ln w="19050">
            <a:solidFill>
              <a:srgbClr val="C0C7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2724912"/>
            <a:ext cx="22860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28800" y="2862072"/>
            <a:ext cx="548640" cy="548640"/>
          </a:xfrm>
          <a:prstGeom prst="ellipse">
            <a:avLst/>
          </a:prstGeom>
          <a:solidFill>
            <a:srgbClr val="F4F8FA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5960" y="2999232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60120" y="34564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960120" y="37216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(HPC)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60120" y="394106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 pax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754880" y="2450592"/>
            <a:ext cx="0" cy="274320"/>
          </a:xfrm>
          <a:prstGeom prst="line">
            <a:avLst/>
          </a:prstGeom>
          <a:noFill/>
          <a:ln w="19050">
            <a:solidFill>
              <a:srgbClr val="C0C7D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11880" y="2724912"/>
            <a:ext cx="22860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480560" y="2862072"/>
            <a:ext cx="548640" cy="548640"/>
          </a:xfrm>
          <a:prstGeom prst="ellipse">
            <a:avLst/>
          </a:prstGeom>
          <a:solidFill>
            <a:srgbClr val="F4F8FA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999232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611880" y="34564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3611880" y="37216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(Pondus)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3611880" y="394106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 pax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7406640" y="2450592"/>
            <a:ext cx="0" cy="274320"/>
          </a:xfrm>
          <a:prstGeom prst="line">
            <a:avLst/>
          </a:prstGeom>
          <a:noFill/>
          <a:ln w="19050">
            <a:solidFill>
              <a:srgbClr val="C0C7D6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263640" y="2724912"/>
            <a:ext cx="22860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132320" y="2862072"/>
            <a:ext cx="548640" cy="548640"/>
          </a:xfrm>
          <a:prstGeom prst="ellipse">
            <a:avLst/>
          </a:prstGeom>
          <a:solidFill>
            <a:srgbClr val="F4F8FA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2999232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263640" y="34564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350" dirty="0"/>
          </a:p>
        </p:txBody>
      </p:sp>
      <p:sp>
        <p:nvSpPr>
          <p:cNvPr id="27" name="Text 22"/>
          <p:cNvSpPr/>
          <p:nvPr/>
        </p:nvSpPr>
        <p:spPr>
          <a:xfrm>
            <a:off x="6263640" y="37216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(Fin, HR)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6263640" y="394106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 pax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10058400" y="2450592"/>
            <a:ext cx="0" cy="274320"/>
          </a:xfrm>
          <a:prstGeom prst="line">
            <a:avLst/>
          </a:prstGeom>
          <a:noFill/>
          <a:ln w="19050">
            <a:solidFill>
              <a:srgbClr val="C0C7D6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8915400" y="2724912"/>
            <a:ext cx="22860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784080" y="2862072"/>
            <a:ext cx="548640" cy="548640"/>
          </a:xfrm>
          <a:prstGeom prst="ellipse">
            <a:avLst/>
          </a:prstGeom>
          <a:solidFill>
            <a:srgbClr val="F4F8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2999232"/>
            <a:ext cx="274320" cy="27432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8915400" y="34564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1350" dirty="0"/>
          </a:p>
        </p:txBody>
      </p:sp>
      <p:sp>
        <p:nvSpPr>
          <p:cNvPr id="34" name="Text 28"/>
          <p:cNvSpPr/>
          <p:nvPr/>
        </p:nvSpPr>
        <p:spPr>
          <a:xfrm>
            <a:off x="8915400" y="37216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(Management)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8915400" y="394106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pax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10058400" y="4142232"/>
            <a:ext cx="0" cy="228600"/>
          </a:xfrm>
          <a:prstGeom prst="line">
            <a:avLst/>
          </a:prstGeom>
          <a:noFill/>
          <a:ln w="19050">
            <a:solidFill>
              <a:srgbClr val="C0C7D6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6080760" y="4370832"/>
            <a:ext cx="3977640" cy="0"/>
          </a:xfrm>
          <a:prstGeom prst="line">
            <a:avLst/>
          </a:prstGeom>
          <a:noFill/>
          <a:ln w="19050">
            <a:solidFill>
              <a:srgbClr val="C0C7D6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6080760" y="4370832"/>
            <a:ext cx="0" cy="246888"/>
          </a:xfrm>
          <a:prstGeom prst="line">
            <a:avLst/>
          </a:prstGeom>
          <a:noFill/>
          <a:ln w="19050">
            <a:solidFill>
              <a:srgbClr val="C0C7D6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3474720" y="4617720"/>
            <a:ext cx="5212080" cy="0"/>
          </a:xfrm>
          <a:prstGeom prst="line">
            <a:avLst/>
          </a:prstGeom>
          <a:noFill/>
          <a:ln w="19050">
            <a:solidFill>
              <a:srgbClr val="C0C7D6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3474720" y="4617720"/>
            <a:ext cx="0" cy="182880"/>
          </a:xfrm>
          <a:prstGeom prst="line">
            <a:avLst/>
          </a:prstGeom>
          <a:noFill/>
          <a:ln w="19050">
            <a:solidFill>
              <a:srgbClr val="C0C7D6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2308860" y="480060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4F8FA"/>
          </a:solidFill>
          <a:ln/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3452" y="4965192"/>
            <a:ext cx="274320" cy="274320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2820924" y="487375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Sysadmin</a:t>
            </a:r>
            <a:endParaRPr lang="en-US" sz="1050" dirty="0"/>
          </a:p>
        </p:txBody>
      </p:sp>
      <p:sp>
        <p:nvSpPr>
          <p:cNvPr id="44" name="Text 37"/>
          <p:cNvSpPr/>
          <p:nvPr/>
        </p:nvSpPr>
        <p:spPr>
          <a:xfrm>
            <a:off x="2820924" y="5148072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(Cloud+HPC) · ~3 pax</a:t>
            </a:r>
            <a:endParaRPr lang="en-US" sz="900" dirty="0"/>
          </a:p>
        </p:txBody>
      </p:sp>
      <p:sp>
        <p:nvSpPr>
          <p:cNvPr id="45" name="Shape 38"/>
          <p:cNvSpPr/>
          <p:nvPr/>
        </p:nvSpPr>
        <p:spPr>
          <a:xfrm>
            <a:off x="6080760" y="4617720"/>
            <a:ext cx="0" cy="182880"/>
          </a:xfrm>
          <a:prstGeom prst="line">
            <a:avLst/>
          </a:prstGeom>
          <a:noFill/>
          <a:ln w="19050">
            <a:solidFill>
              <a:srgbClr val="C0C7D6"/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>
            <a:off x="4914900" y="480060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4F8FA"/>
          </a:solidFill>
          <a:ln/>
        </p:spPr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9492" y="4965192"/>
            <a:ext cx="274320" cy="274320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5426964" y="487375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Engineer</a:t>
            </a:r>
            <a:endParaRPr lang="en-US" sz="1050" dirty="0"/>
          </a:p>
        </p:txBody>
      </p:sp>
      <p:sp>
        <p:nvSpPr>
          <p:cNvPr id="49" name="Text 41"/>
          <p:cNvSpPr/>
          <p:nvPr/>
        </p:nvSpPr>
        <p:spPr>
          <a:xfrm>
            <a:off x="5426964" y="5148072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pax</a:t>
            </a:r>
            <a:endParaRPr lang="en-US" sz="900" dirty="0"/>
          </a:p>
        </p:txBody>
      </p:sp>
      <p:sp>
        <p:nvSpPr>
          <p:cNvPr id="50" name="Shape 42"/>
          <p:cNvSpPr/>
          <p:nvPr/>
        </p:nvSpPr>
        <p:spPr>
          <a:xfrm>
            <a:off x="8686800" y="4617720"/>
            <a:ext cx="0" cy="182880"/>
          </a:xfrm>
          <a:prstGeom prst="line">
            <a:avLst/>
          </a:prstGeom>
          <a:noFill/>
          <a:ln w="19050">
            <a:solidFill>
              <a:srgbClr val="C0C7D6"/>
            </a:solidFill>
            <a:prstDash val="solid"/>
          </a:ln>
        </p:spPr>
      </p:sp>
      <p:sp>
        <p:nvSpPr>
          <p:cNvPr id="51" name="Shape 43"/>
          <p:cNvSpPr/>
          <p:nvPr/>
        </p:nvSpPr>
        <p:spPr>
          <a:xfrm>
            <a:off x="7520940" y="480060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4F8FA"/>
          </a:solidFill>
          <a:ln/>
        </p:spPr>
      </p:sp>
      <p:pic>
        <p:nvPicPr>
          <p:cNvPr id="5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5532" y="4965192"/>
            <a:ext cx="274320" cy="274320"/>
          </a:xfrm>
          <a:prstGeom prst="rect">
            <a:avLst/>
          </a:prstGeom>
        </p:spPr>
      </p:pic>
      <p:sp>
        <p:nvSpPr>
          <p:cNvPr id="53" name="Text 44"/>
          <p:cNvSpPr/>
          <p:nvPr/>
        </p:nvSpPr>
        <p:spPr>
          <a:xfrm>
            <a:off x="8033004" y="487375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Desk</a:t>
            </a:r>
            <a:endParaRPr lang="en-US" sz="1050" dirty="0"/>
          </a:p>
        </p:txBody>
      </p:sp>
      <p:sp>
        <p:nvSpPr>
          <p:cNvPr id="54" name="Text 45"/>
          <p:cNvSpPr/>
          <p:nvPr/>
        </p:nvSpPr>
        <p:spPr>
          <a:xfrm>
            <a:off x="8033004" y="5148072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(1st level) · ~2 pax</a:t>
            </a:r>
            <a:endParaRPr lang="en-US" sz="900" dirty="0"/>
          </a:p>
        </p:txBody>
      </p:sp>
      <p:sp>
        <p:nvSpPr>
          <p:cNvPr id="55" name="Text 4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Group srl — Proposta 5Stack v0.2</a:t>
            </a:r>
            <a:endParaRPr lang="en-US" sz="900" dirty="0"/>
          </a:p>
        </p:txBody>
      </p:sp>
      <p:sp>
        <p:nvSpPr>
          <p:cNvPr id="56" name="Text 47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di Integrazione (1/2)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Fasi 1-5: dalla preparazione alla migrazione applicativa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6002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Preparazione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1709928"/>
            <a:ext cx="1371600" cy="411480"/>
          </a:xfrm>
          <a:prstGeom prst="roundRect">
            <a:avLst>
              <a:gd name="adj" fmla="val 48889"/>
            </a:avLst>
          </a:prstGeom>
          <a:solidFill>
            <a:srgbClr val="F4F8FA"/>
          </a:solidFill>
          <a:ln/>
        </p:spPr>
      </p:sp>
      <p:sp>
        <p:nvSpPr>
          <p:cNvPr id="8" name="Text 6"/>
          <p:cNvSpPr/>
          <p:nvPr/>
        </p:nvSpPr>
        <p:spPr>
          <a:xfrm>
            <a:off x="4297680" y="170992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Sett. 1-2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852160" y="160020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Assessment, contratti M365/Azure, nomina security team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2240280"/>
            <a:ext cx="0" cy="274320"/>
          </a:xfrm>
          <a:prstGeom prst="line">
            <a:avLst/>
          </a:prstGeom>
          <a:noFill/>
          <a:ln w="25400">
            <a:solidFill>
              <a:srgbClr val="DCE3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5603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560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25146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First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297680" y="2624328"/>
            <a:ext cx="1371600" cy="411480"/>
          </a:xfrm>
          <a:prstGeom prst="roundRect">
            <a:avLst>
              <a:gd name="adj" fmla="val 48889"/>
            </a:avLst>
          </a:prstGeom>
          <a:solidFill>
            <a:srgbClr val="F4F8FA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0" y="262432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Sett. 2-3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852160" y="251460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ID, sync Samba4 AD, MFA + Conditional Access base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" y="3154680"/>
            <a:ext cx="0" cy="274320"/>
          </a:xfrm>
          <a:prstGeom prst="line">
            <a:avLst/>
          </a:prstGeom>
          <a:noFill/>
          <a:ln w="25400">
            <a:solidFill>
              <a:srgbClr val="DCE3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4747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474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80160" y="34290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Migrazione Collaborazione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297680" y="3538728"/>
            <a:ext cx="1371600" cy="411480"/>
          </a:xfrm>
          <a:prstGeom prst="roundRect">
            <a:avLst>
              <a:gd name="adj" fmla="val 48889"/>
            </a:avLst>
          </a:prstGeom>
          <a:solidFill>
            <a:srgbClr val="F4F8FA"/>
          </a:solidFill>
          <a:ln/>
        </p:spPr>
      </p:sp>
      <p:sp>
        <p:nvSpPr>
          <p:cNvPr id="22" name="Text 20"/>
          <p:cNvSpPr/>
          <p:nvPr/>
        </p:nvSpPr>
        <p:spPr>
          <a:xfrm>
            <a:off x="4297680" y="353872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Sett. 3-5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852160" y="342900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Posta e file su M365, DLP, Safe Attachments/Links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22960" y="4069080"/>
            <a:ext cx="0" cy="274320"/>
          </a:xfrm>
          <a:prstGeom prst="line">
            <a:avLst/>
          </a:prstGeom>
          <a:noFill/>
          <a:ln w="25400">
            <a:solidFill>
              <a:srgbClr val="DCE3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3891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80160" y="43434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Migrazione Applicazioni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297680" y="4453128"/>
            <a:ext cx="1371600" cy="411480"/>
          </a:xfrm>
          <a:prstGeom prst="roundRect">
            <a:avLst>
              <a:gd name="adj" fmla="val 48889"/>
            </a:avLst>
          </a:prstGeom>
          <a:solidFill>
            <a:srgbClr val="F4F8FA"/>
          </a:solidFill>
          <a:ln/>
        </p:spPr>
      </p:sp>
      <p:sp>
        <p:nvSpPr>
          <p:cNvPr id="29" name="Text 27"/>
          <p:cNvSpPr/>
          <p:nvPr/>
        </p:nvSpPr>
        <p:spPr>
          <a:xfrm>
            <a:off x="4297680" y="445312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Sett. 4-8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852160" y="434340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Pondus, Odoo, MediaWiki, Gitea su Azure; NSG, Key Vault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22960" y="4983480"/>
            <a:ext cx="0" cy="274320"/>
          </a:xfrm>
          <a:prstGeom prst="line">
            <a:avLst/>
          </a:prstGeom>
          <a:noFill/>
          <a:ln w="25400">
            <a:solidFill>
              <a:srgbClr val="DCE3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53035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5303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280160" y="52578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HPC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297680" y="5367528"/>
            <a:ext cx="1371600" cy="411480"/>
          </a:xfrm>
          <a:prstGeom prst="roundRect">
            <a:avLst>
              <a:gd name="adj" fmla="val 48889"/>
            </a:avLst>
          </a:prstGeom>
          <a:solidFill>
            <a:srgbClr val="F4F8FA"/>
          </a:solidFill>
          <a:ln/>
        </p:spPr>
      </p:sp>
      <p:sp>
        <p:nvSpPr>
          <p:cNvPr id="36" name="Text 34"/>
          <p:cNvSpPr/>
          <p:nvPr/>
        </p:nvSpPr>
        <p:spPr>
          <a:xfrm>
            <a:off x="4297680" y="536752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Sett. 3-6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852160" y="525780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Selezione provider, 16 nodi, VPN HPC dedicata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Group srl — Proposta 5Stack v0.2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di Integrazione (2/2)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6 — Sicurezza &amp; DR (4 sotto-fasi) e chiusura progetto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F4F8F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002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B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89280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Endpoint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85800" y="225856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Access avanzato, PIM, Defender for Endpoint, Attack Simulation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474720" y="150876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F4F8FA"/>
          </a:solidFill>
          <a:ln/>
        </p:spPr>
      </p:sp>
      <p:sp>
        <p:nvSpPr>
          <p:cNvPr id="9" name="Text 7"/>
          <p:cNvSpPr/>
          <p:nvPr/>
        </p:nvSpPr>
        <p:spPr>
          <a:xfrm>
            <a:off x="3611880" y="16002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B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11880" y="189280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 &amp; Infrastruttura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611880" y="225856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FortiGate 100F HA, Azure Firewall, NSG, DDoS Protection, VPN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00800" y="150876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F4F8FA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16002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B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37960" y="189280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DR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37960" y="225856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Backup, Site Recovery, SQL MI geo-replication, test RPO/RTO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326880" y="150876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F4F8FA"/>
          </a:solidFill>
          <a:ln/>
        </p:spPr>
      </p:sp>
      <p:sp>
        <p:nvSpPr>
          <p:cNvPr id="17" name="Text 15"/>
          <p:cNvSpPr/>
          <p:nvPr/>
        </p:nvSpPr>
        <p:spPr>
          <a:xfrm>
            <a:off x="9464040" y="16002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B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464040" y="189280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Compliance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464040" y="225856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Analytics, Purview Compliance Manager, alerting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29718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Settimana 5-8 — le 4 sotto-fasi procedono in parallelo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3832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43000" y="3355848"/>
            <a:ext cx="3200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Razionalizzazione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434840" y="342900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F4F8FA"/>
          </a:solidFill>
          <a:ln/>
        </p:spPr>
      </p:sp>
      <p:sp>
        <p:nvSpPr>
          <p:cNvPr id="25" name="Text 23"/>
          <p:cNvSpPr/>
          <p:nvPr/>
        </p:nvSpPr>
        <p:spPr>
          <a:xfrm>
            <a:off x="4434840" y="34290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Sett. 8-9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852160" y="3355848"/>
            <a:ext cx="5760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Policy, RBAC, access reviews, Sentinel (se previsto)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1605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143000" y="4133088"/>
            <a:ext cx="3200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Collaudo &amp; Go-Live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434840" y="420624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F4F8FA"/>
          </a:solidFill>
          <a:ln/>
        </p:spPr>
      </p:sp>
      <p:sp>
        <p:nvSpPr>
          <p:cNvPr id="31" name="Text 29"/>
          <p:cNvSpPr/>
          <p:nvPr/>
        </p:nvSpPr>
        <p:spPr>
          <a:xfrm>
            <a:off x="4434840" y="42062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Sett. 9-11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852160" y="4133088"/>
            <a:ext cx="5760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test, test RPO/RTO, formazione, cut-over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49377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4937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143000" y="4910328"/>
            <a:ext cx="3200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Chiusura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4434840" y="498348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F4F8FA"/>
          </a:solidFill>
          <a:ln/>
        </p:spPr>
      </p:sp>
      <p:sp>
        <p:nvSpPr>
          <p:cNvPr id="37" name="Text 35"/>
          <p:cNvSpPr/>
          <p:nvPr/>
        </p:nvSpPr>
        <p:spPr>
          <a:xfrm>
            <a:off x="4434840" y="49834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Sett. 11-12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852160" y="4910328"/>
            <a:ext cx="5760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Dismissione on-prem Thema, handover, documentazione as-built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Group srl — Proposta 5Stack v0.2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Vantaggi della Soluzione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questa architettura risponde alle esigenze di TP Group srl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611880" cy="1371600"/>
          </a:xfrm>
          <a:prstGeom prst="roundRect">
            <a:avLst>
              <a:gd name="adj" fmla="val 6667"/>
            </a:avLst>
          </a:prstGeom>
          <a:solidFill>
            <a:srgbClr val="065A82">
              <a:alpha val="85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627632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1938528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Riduzione complessità IT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2267712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due stack eterogenei a un unico ecosistema Microsoft + Azure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4434840" y="1463040"/>
            <a:ext cx="3611880" cy="1371600"/>
          </a:xfrm>
          <a:prstGeom prst="roundRect">
            <a:avLst>
              <a:gd name="adj" fmla="val 6667"/>
            </a:avLst>
          </a:prstGeom>
          <a:solidFill>
            <a:srgbClr val="065A82">
              <a:alpha val="85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1627632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36008" y="1938528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Risparmio sui costi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636008" y="2267712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 ridotto del ~30% su 3 anni vs mantenimento on-prem</a:t>
            </a:r>
            <a:endParaRPr lang="en-US" sz="980" dirty="0"/>
          </a:p>
        </p:txBody>
      </p:sp>
      <p:sp>
        <p:nvSpPr>
          <p:cNvPr id="13" name="Shape 9"/>
          <p:cNvSpPr/>
          <p:nvPr/>
        </p:nvSpPr>
        <p:spPr>
          <a:xfrm>
            <a:off x="8321040" y="1463040"/>
            <a:ext cx="3611880" cy="1371600"/>
          </a:xfrm>
          <a:prstGeom prst="roundRect">
            <a:avLst>
              <a:gd name="adj" fmla="val 6667"/>
            </a:avLst>
          </a:prstGeom>
          <a:solidFill>
            <a:srgbClr val="065A82">
              <a:alpha val="85000"/>
            </a:srgbClr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8" y="1627632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522208" y="1938528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Scalabilità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8522208" y="2267712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elastico, nessun vincolo fisico (rack, raffreddamento)</a:t>
            </a:r>
            <a:endParaRPr lang="en-US" sz="980" dirty="0"/>
          </a:p>
        </p:txBody>
      </p:sp>
      <p:sp>
        <p:nvSpPr>
          <p:cNvPr id="17" name="Shape 12"/>
          <p:cNvSpPr/>
          <p:nvPr/>
        </p:nvSpPr>
        <p:spPr>
          <a:xfrm>
            <a:off x="548640" y="3035808"/>
            <a:ext cx="3611880" cy="1371600"/>
          </a:xfrm>
          <a:prstGeom prst="roundRect">
            <a:avLst>
              <a:gd name="adj" fmla="val 6667"/>
            </a:avLst>
          </a:prstGeom>
          <a:solidFill>
            <a:srgbClr val="065A82">
              <a:alpha val="85000"/>
            </a:srgbClr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3200400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49808" y="3511296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Sicurezza Zero Trust a 9 strati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749808" y="3840480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Difesa indipendente su identity, endpoint, SaaS, IaaS, sede, backup, audit, governance, training</a:t>
            </a:r>
            <a:endParaRPr lang="en-US" sz="980" dirty="0"/>
          </a:p>
        </p:txBody>
      </p:sp>
      <p:sp>
        <p:nvSpPr>
          <p:cNvPr id="21" name="Shape 15"/>
          <p:cNvSpPr/>
          <p:nvPr/>
        </p:nvSpPr>
        <p:spPr>
          <a:xfrm>
            <a:off x="4434840" y="3035808"/>
            <a:ext cx="3611880" cy="1371600"/>
          </a:xfrm>
          <a:prstGeom prst="roundRect">
            <a:avLst>
              <a:gd name="adj" fmla="val 6667"/>
            </a:avLst>
          </a:prstGeom>
          <a:solidFill>
            <a:srgbClr val="065A82">
              <a:alpha val="85000"/>
            </a:srgbClr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008" y="3200400"/>
            <a:ext cx="256032" cy="25603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636008" y="3511296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Continuity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4636008" y="3840480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single point of failure: FortiGate HA, Azure multi-region</a:t>
            </a:r>
            <a:endParaRPr lang="en-US" sz="980" dirty="0"/>
          </a:p>
        </p:txBody>
      </p:sp>
      <p:sp>
        <p:nvSpPr>
          <p:cNvPr id="25" name="Shape 18"/>
          <p:cNvSpPr/>
          <p:nvPr/>
        </p:nvSpPr>
        <p:spPr>
          <a:xfrm>
            <a:off x="8321040" y="3035808"/>
            <a:ext cx="3611880" cy="1371600"/>
          </a:xfrm>
          <a:prstGeom prst="roundRect">
            <a:avLst>
              <a:gd name="adj" fmla="val 6667"/>
            </a:avLst>
          </a:prstGeom>
          <a:solidFill>
            <a:srgbClr val="065A82">
              <a:alpha val="85000"/>
            </a:srgbClr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2208" y="3200400"/>
            <a:ext cx="256032" cy="25603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522208" y="3511296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 Compliance</a:t>
            </a:r>
            <a:endParaRPr lang="en-US" sz="1250" dirty="0"/>
          </a:p>
        </p:txBody>
      </p:sp>
      <p:sp>
        <p:nvSpPr>
          <p:cNvPr id="28" name="Text 20"/>
          <p:cNvSpPr/>
          <p:nvPr/>
        </p:nvSpPr>
        <p:spPr>
          <a:xfrm>
            <a:off x="8522208" y="3840480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centralizzato, Microsoft Purview per ISO 27001, eDiscovery</a:t>
            </a:r>
            <a:endParaRPr lang="en-US" sz="980" dirty="0"/>
          </a:p>
        </p:txBody>
      </p:sp>
      <p:sp>
        <p:nvSpPr>
          <p:cNvPr id="29" name="Shape 21"/>
          <p:cNvSpPr/>
          <p:nvPr/>
        </p:nvSpPr>
        <p:spPr>
          <a:xfrm>
            <a:off x="548640" y="4608576"/>
            <a:ext cx="3611880" cy="1371600"/>
          </a:xfrm>
          <a:prstGeom prst="roundRect">
            <a:avLst>
              <a:gd name="adj" fmla="val 6667"/>
            </a:avLst>
          </a:prstGeom>
          <a:solidFill>
            <a:srgbClr val="065A82">
              <a:alpha val="85000"/>
            </a:srgbClr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" y="4773168"/>
            <a:ext cx="256032" cy="25603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49808" y="5084064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HPC performante</a:t>
            </a:r>
            <a:endParaRPr lang="en-US" sz="1250" dirty="0"/>
          </a:p>
        </p:txBody>
      </p:sp>
      <p:sp>
        <p:nvSpPr>
          <p:cNvPr id="32" name="Text 23"/>
          <p:cNvSpPr/>
          <p:nvPr/>
        </p:nvSpPr>
        <p:spPr>
          <a:xfrm>
            <a:off x="749808" y="5413248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8 a 16 nodi bare-metal cloud, multi-site per DR</a:t>
            </a:r>
            <a:endParaRPr lang="en-US" sz="980" dirty="0"/>
          </a:p>
        </p:txBody>
      </p:sp>
      <p:sp>
        <p:nvSpPr>
          <p:cNvPr id="33" name="Shape 24"/>
          <p:cNvSpPr/>
          <p:nvPr/>
        </p:nvSpPr>
        <p:spPr>
          <a:xfrm>
            <a:off x="4434840" y="4608576"/>
            <a:ext cx="3611880" cy="1371600"/>
          </a:xfrm>
          <a:prstGeom prst="roundRect">
            <a:avLst>
              <a:gd name="adj" fmla="val 6667"/>
            </a:avLst>
          </a:prstGeom>
          <a:solidFill>
            <a:srgbClr val="065A82">
              <a:alpha val="85000"/>
            </a:srgbClr>
          </a:solidFill>
          <a:ln/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36008" y="4773168"/>
            <a:ext cx="256032" cy="256032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4636008" y="5084064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Prevenzione proattiva</a:t>
            </a:r>
            <a:endParaRPr lang="en-US" sz="1250" dirty="0"/>
          </a:p>
        </p:txBody>
      </p:sp>
      <p:sp>
        <p:nvSpPr>
          <p:cNvPr id="36" name="Text 26"/>
          <p:cNvSpPr/>
          <p:nvPr/>
        </p:nvSpPr>
        <p:spPr>
          <a:xfrm>
            <a:off x="4636008" y="5413248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scanning, threat hunting, SIEM opzionale</a:t>
            </a:r>
            <a:endParaRPr lang="en-US" sz="980" dirty="0"/>
          </a:p>
        </p:txBody>
      </p:sp>
      <p:sp>
        <p:nvSpPr>
          <p:cNvPr id="37" name="Shape 27"/>
          <p:cNvSpPr/>
          <p:nvPr/>
        </p:nvSpPr>
        <p:spPr>
          <a:xfrm>
            <a:off x="8321040" y="4608576"/>
            <a:ext cx="3611880" cy="1371600"/>
          </a:xfrm>
          <a:prstGeom prst="roundRect">
            <a:avLst>
              <a:gd name="adj" fmla="val 6667"/>
            </a:avLst>
          </a:prstGeom>
          <a:solidFill>
            <a:srgbClr val="065A82">
              <a:alpha val="85000"/>
            </a:srgbClr>
          </a:solidFill>
          <a:ln/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22208" y="4773168"/>
            <a:ext cx="256032" cy="256032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8522208" y="5084064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Formazione continua</a:t>
            </a:r>
            <a:endParaRPr lang="en-US" sz="1250" dirty="0"/>
          </a:p>
        </p:txBody>
      </p:sp>
      <p:sp>
        <p:nvSpPr>
          <p:cNvPr id="40" name="Text 29"/>
          <p:cNvSpPr/>
          <p:nvPr/>
        </p:nvSpPr>
        <p:spPr>
          <a:xfrm>
            <a:off x="8522208" y="5413248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Simulation Training, security awareness campaign</a:t>
            </a:r>
            <a:endParaRPr lang="en-US" sz="980" dirty="0"/>
          </a:p>
        </p:txBody>
      </p:sp>
      <p:sp>
        <p:nvSpPr>
          <p:cNvPr id="41" name="Text 3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Group srl — Proposta 5Stack v0.2</a:t>
            </a:r>
            <a:endParaRPr lang="en-US" sz="900" dirty="0"/>
          </a:p>
        </p:txBody>
      </p:sp>
      <p:sp>
        <p:nvSpPr>
          <p:cNvPr id="42" name="Text 31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Indicativo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Primo anno di progetto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675120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22860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Voce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Costo stimato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Licenze Microsoft 365 E5 (50 utenti)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~33.000 €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Azure IaaS / PaaS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~35.000 €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Azure Firewall, DDoS Protection, Defender for Cloud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~10.000 €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Azure Backup + Site Recovery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~8.000 €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HPC bare-metal cloud (3 anni)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~270.000 €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FortiGate 100F HA pair (3 anni)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~15.000 €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Servizi professionali 5Stack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~45.000 €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Penetration test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~12.000 €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Formazione + Attack Simulation Training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~8.000 €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Microsoft Sentinel (opzionale)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~5.000 €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</a:rPr>
                        <a:t>Subtotale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</a:rPr>
                        <a:t>~441.000 €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Buffer (10%)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~44.000 €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417320"/>
            <a:ext cx="4023360" cy="2103120"/>
          </a:xfrm>
          <a:prstGeom prst="roundRect">
            <a:avLst>
              <a:gd name="adj" fmla="val 4348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627632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21040" y="16276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Totale primo anno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7589520" y="201168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~485.000 €</a:t>
            </a:r>
            <a:endParaRPr lang="en-US" sz="3600" dirty="0"/>
          </a:p>
        </p:txBody>
      </p:sp>
      <p:sp>
        <p:nvSpPr>
          <p:cNvPr id="9" name="Text 5"/>
          <p:cNvSpPr/>
          <p:nvPr/>
        </p:nvSpPr>
        <p:spPr>
          <a:xfrm>
            <a:off x="7818120" y="27889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2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Costi ricorrenti annuali stimati in ~95.000 € dal secondo anno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7589520" y="3657600"/>
            <a:ext cx="4023360" cy="1737360"/>
          </a:xfrm>
          <a:prstGeom prst="roundRect">
            <a:avLst>
              <a:gd name="adj" fmla="val 5263"/>
            </a:avLst>
          </a:prstGeom>
          <a:solidFill>
            <a:srgbClr val="F4F8FA"/>
          </a:solidFill>
          <a:ln/>
        </p:spPr>
      </p:sp>
      <p:sp>
        <p:nvSpPr>
          <p:cNvPr id="11" name="Text 7"/>
          <p:cNvSpPr/>
          <p:nvPr/>
        </p:nvSpPr>
        <p:spPr>
          <a:xfrm>
            <a:off x="7818120" y="384048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costi HPC e FortiGate ripartiti su 3 anni. Sentinel è opzionale e attivabile dal secondo anno.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Group srl — Proposta 5Stack v0.2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065A82">
              <a:alpha val="65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7772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Conclusioni e Prossimi Passi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40080" y="150876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modello Full Cloud + HPC bare-metal + Sicurezza Zero Trust a 9 strati risponde a tutte le criticità emerse e pone le basi per una crescita scalabile, sicura e conforme.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487168"/>
            <a:ext cx="201168" cy="2011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0120" y="246888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Unica identità digitale per tutti i 50 dipendenti</a:t>
            </a:r>
            <a:endParaRPr lang="en-US" sz="12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2487168"/>
            <a:ext cx="201168" cy="20116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355080" y="246888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 ecosistema M365 per collaborazione, posta, file</a:t>
            </a:r>
            <a:endParaRPr lang="en-US" sz="12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081528"/>
            <a:ext cx="201168" cy="20116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0120" y="306324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ibrido per applicazioni e dati (Azure)</a:t>
            </a:r>
            <a:endParaRPr lang="en-US" sz="12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3081528"/>
            <a:ext cx="201168" cy="20116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355080" y="306324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Sicurezza multistrato senza punti ciechi</a:t>
            </a:r>
            <a:endParaRPr lang="en-US" sz="1200" dirty="0"/>
          </a:p>
        </p:txBody>
      </p:sp>
      <p:sp>
        <p:nvSpPr>
          <p:cNvPr id="14" name="Shape 7"/>
          <p:cNvSpPr/>
          <p:nvPr/>
        </p:nvSpPr>
        <p:spPr>
          <a:xfrm>
            <a:off x="640080" y="4023360"/>
            <a:ext cx="457200" cy="457200"/>
          </a:xfrm>
          <a:prstGeom prst="ellipse">
            <a:avLst/>
          </a:prstGeom>
          <a:solidFill>
            <a:srgbClr val="2FB6A6"/>
          </a:solidFill>
          <a:ln/>
        </p:spPr>
      </p:sp>
      <p:sp>
        <p:nvSpPr>
          <p:cNvPr id="15" name="Text 8"/>
          <p:cNvSpPr/>
          <p:nvPr/>
        </p:nvSpPr>
        <p:spPr>
          <a:xfrm>
            <a:off x="64008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1280160" y="404164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congiunta della bozza e validazione delle scelte architetturali</a:t>
            </a:r>
            <a:endParaRPr lang="en-US" sz="1300" dirty="0"/>
          </a:p>
        </p:txBody>
      </p:sp>
      <p:sp>
        <p:nvSpPr>
          <p:cNvPr id="17" name="Shape 10"/>
          <p:cNvSpPr/>
          <p:nvPr/>
        </p:nvSpPr>
        <p:spPr>
          <a:xfrm>
            <a:off x="640080" y="4800600"/>
            <a:ext cx="457200" cy="457200"/>
          </a:xfrm>
          <a:prstGeom prst="ellipse">
            <a:avLst/>
          </a:prstGeom>
          <a:solidFill>
            <a:srgbClr val="2FB6A6"/>
          </a:solidFill>
          <a:ln/>
        </p:spPr>
      </p:sp>
      <p:sp>
        <p:nvSpPr>
          <p:cNvPr id="18" name="Text 11"/>
          <p:cNvSpPr/>
          <p:nvPr/>
        </p:nvSpPr>
        <p:spPr>
          <a:xfrm>
            <a:off x="640080" y="4800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1280160" y="481888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Raccolta feedback su RPO/RTO e priorità di migrazione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640080" y="5577840"/>
            <a:ext cx="457200" cy="457200"/>
          </a:xfrm>
          <a:prstGeom prst="ellipse">
            <a:avLst/>
          </a:prstGeom>
          <a:solidFill>
            <a:srgbClr val="2FB6A6"/>
          </a:solidFill>
          <a:ln/>
        </p:spPr>
      </p:sp>
      <p:sp>
        <p:nvSpPr>
          <p:cNvPr id="21" name="Text 14"/>
          <p:cNvSpPr/>
          <p:nvPr/>
        </p:nvSpPr>
        <p:spPr>
          <a:xfrm>
            <a:off x="640080" y="5577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1280160" y="559612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Definizione contratto e avvio fase di preparazione (assessment dettagliato)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640080" y="60807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E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da considerarsi come bozza preliminare. Ogni sezione è suscettibile di modifica e approfondimento in base al confronto con il cliente.</a:t>
            </a:r>
            <a:endParaRPr lang="en-US" sz="950" dirty="0"/>
          </a:p>
        </p:txBody>
      </p:sp>
      <p:sp>
        <p:nvSpPr>
          <p:cNvPr id="24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Group srl — Proposta 5Stack v0.2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Proposta di Integrazione IT — TP Group srl (v0.2)</dc:title>
  <dc:subject>PptxGenJS Presentation</dc:subject>
  <dc:creator>5Stack</dc:creator>
  <cp:lastModifiedBy>5Stack</cp:lastModifiedBy>
  <cp:revision>1</cp:revision>
  <dcterms:created xsi:type="dcterms:W3CDTF">2026-06-29T12:05:34Z</dcterms:created>
  <dcterms:modified xsi:type="dcterms:W3CDTF">2026-06-29T12:05:34Z</dcterms:modified>
</cp:coreProperties>
</file>